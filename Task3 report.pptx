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2" r:id="rId5"/>
    <p:sldId id="260" r:id="rId6"/>
    <p:sldId id="261"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437"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1122363"/>
            <a:ext cx="9144000" cy="2387600"/>
          </a:xfrm>
        </p:spPr>
        <p:txBody>
          <a:bodyPr anchor="b"/>
          <a:lstStyle>
            <a:lvl1pPr algn="ctr">
              <a:defRPr sz="6000"/>
            </a:lvl1pPr>
          </a:lstStyle>
          <a:p>
            <a:r>
              <a:rPr lang="tr-TR" smtClean="0"/>
              <a:t>Asıl başlık stili için tıklatın</a:t>
            </a:r>
            <a:endParaRPr lang="en-US"/>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smtClean="0"/>
              <a:t>Asıl alt başlık stilini düzenlemek için tıklatın</a:t>
            </a:r>
            <a:endParaRPr lang="en-US"/>
          </a:p>
        </p:txBody>
      </p:sp>
      <p:sp>
        <p:nvSpPr>
          <p:cNvPr id="4" name="Veri Yer Tutucusu 3"/>
          <p:cNvSpPr>
            <a:spLocks noGrp="1"/>
          </p:cNvSpPr>
          <p:nvPr>
            <p:ph type="dt" sz="half" idx="10"/>
          </p:nvPr>
        </p:nvSpPr>
        <p:spPr/>
        <p:txBody>
          <a:bodyPr/>
          <a:lstStyle/>
          <a:p>
            <a:fld id="{6402DA71-CE98-4DBA-82CB-1F85D4AF65B2}" type="datetimeFigureOut">
              <a:rPr lang="en-US" smtClean="0"/>
              <a:t>2/6/2026</a:t>
            </a:fld>
            <a:endParaRPr lang="en-US"/>
          </a:p>
        </p:txBody>
      </p:sp>
      <p:sp>
        <p:nvSpPr>
          <p:cNvPr id="5" name="Altbilgi Yer Tutucusu 4"/>
          <p:cNvSpPr>
            <a:spLocks noGrp="1"/>
          </p:cNvSpPr>
          <p:nvPr>
            <p:ph type="ftr" sz="quarter" idx="11"/>
          </p:nvPr>
        </p:nvSpPr>
        <p:spPr/>
        <p:txBody>
          <a:bodyPr/>
          <a:lstStyle/>
          <a:p>
            <a:endParaRPr lang="en-US"/>
          </a:p>
        </p:txBody>
      </p:sp>
      <p:sp>
        <p:nvSpPr>
          <p:cNvPr id="6" name="Slayt Numarası Yer Tutucusu 5"/>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3985937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en-US"/>
          </a:p>
        </p:txBody>
      </p:sp>
      <p:sp>
        <p:nvSpPr>
          <p:cNvPr id="3" name="İçerik Yer Tutucusu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Veri Yer Tutucusu 3"/>
          <p:cNvSpPr>
            <a:spLocks noGrp="1"/>
          </p:cNvSpPr>
          <p:nvPr>
            <p:ph type="dt" sz="half" idx="10"/>
          </p:nvPr>
        </p:nvSpPr>
        <p:spPr/>
        <p:txBody>
          <a:bodyPr/>
          <a:lstStyle/>
          <a:p>
            <a:fld id="{6402DA71-CE98-4DBA-82CB-1F85D4AF65B2}" type="datetimeFigureOut">
              <a:rPr lang="en-US" smtClean="0"/>
              <a:t>2/6/2026</a:t>
            </a:fld>
            <a:endParaRPr lang="en-US"/>
          </a:p>
        </p:txBody>
      </p:sp>
      <p:sp>
        <p:nvSpPr>
          <p:cNvPr id="5" name="Altbilgi Yer Tutucusu 4"/>
          <p:cNvSpPr>
            <a:spLocks noGrp="1"/>
          </p:cNvSpPr>
          <p:nvPr>
            <p:ph type="ftr" sz="quarter" idx="11"/>
          </p:nvPr>
        </p:nvSpPr>
        <p:spPr/>
        <p:txBody>
          <a:bodyPr/>
          <a:lstStyle/>
          <a:p>
            <a:endParaRPr lang="en-US"/>
          </a:p>
        </p:txBody>
      </p:sp>
      <p:sp>
        <p:nvSpPr>
          <p:cNvPr id="6" name="Slayt Numarası Yer Tutucusu 5"/>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1935552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Unvan 1"/>
          <p:cNvSpPr>
            <a:spLocks noGrp="1"/>
          </p:cNvSpPr>
          <p:nvPr>
            <p:ph type="title"/>
          </p:nvPr>
        </p:nvSpPr>
        <p:spPr>
          <a:xfrm>
            <a:off x="831850" y="1709738"/>
            <a:ext cx="10515600" cy="2852737"/>
          </a:xfrm>
        </p:spPr>
        <p:txBody>
          <a:bodyPr anchor="b"/>
          <a:lstStyle>
            <a:lvl1pPr>
              <a:defRPr sz="6000"/>
            </a:lvl1pPr>
          </a:lstStyle>
          <a:p>
            <a:r>
              <a:rPr lang="tr-TR" smtClean="0"/>
              <a:t>Asıl başlık stili için tıklatın</a:t>
            </a:r>
            <a:endParaRPr lang="en-US"/>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6402DA71-CE98-4DBA-82CB-1F85D4AF65B2}" type="datetimeFigureOut">
              <a:rPr lang="en-US" smtClean="0"/>
              <a:t>2/6/2026</a:t>
            </a:fld>
            <a:endParaRPr lang="en-US"/>
          </a:p>
        </p:txBody>
      </p:sp>
      <p:sp>
        <p:nvSpPr>
          <p:cNvPr id="5" name="Altbilgi Yer Tutucusu 4"/>
          <p:cNvSpPr>
            <a:spLocks noGrp="1"/>
          </p:cNvSpPr>
          <p:nvPr>
            <p:ph type="ftr" sz="quarter" idx="11"/>
          </p:nvPr>
        </p:nvSpPr>
        <p:spPr/>
        <p:txBody>
          <a:bodyPr/>
          <a:lstStyle/>
          <a:p>
            <a:endParaRPr lang="en-US"/>
          </a:p>
        </p:txBody>
      </p:sp>
      <p:sp>
        <p:nvSpPr>
          <p:cNvPr id="6" name="Slayt Numarası Yer Tutucusu 5"/>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3575148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en-US"/>
          </a:p>
        </p:txBody>
      </p:sp>
      <p:sp>
        <p:nvSpPr>
          <p:cNvPr id="3" name="İçerik Yer Tutucusu 2"/>
          <p:cNvSpPr>
            <a:spLocks noGrp="1"/>
          </p:cNvSpPr>
          <p:nvPr>
            <p:ph sz="half" idx="1"/>
          </p:nvPr>
        </p:nvSpPr>
        <p:spPr>
          <a:xfrm>
            <a:off x="838200" y="1825625"/>
            <a:ext cx="5181600" cy="4351338"/>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İçerik Yer Tutucusu 3"/>
          <p:cNvSpPr>
            <a:spLocks noGrp="1"/>
          </p:cNvSpPr>
          <p:nvPr>
            <p:ph sz="half" idx="2"/>
          </p:nvPr>
        </p:nvSpPr>
        <p:spPr>
          <a:xfrm>
            <a:off x="6172200" y="1825625"/>
            <a:ext cx="5181600" cy="4351338"/>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5" name="Veri Yer Tutucusu 4"/>
          <p:cNvSpPr>
            <a:spLocks noGrp="1"/>
          </p:cNvSpPr>
          <p:nvPr>
            <p:ph type="dt" sz="half" idx="10"/>
          </p:nvPr>
        </p:nvSpPr>
        <p:spPr/>
        <p:txBody>
          <a:bodyPr/>
          <a:lstStyle/>
          <a:p>
            <a:fld id="{6402DA71-CE98-4DBA-82CB-1F85D4AF65B2}" type="datetimeFigureOut">
              <a:rPr lang="en-US" smtClean="0"/>
              <a:t>2/6/2026</a:t>
            </a:fld>
            <a:endParaRPr lang="en-US"/>
          </a:p>
        </p:txBody>
      </p:sp>
      <p:sp>
        <p:nvSpPr>
          <p:cNvPr id="6" name="Altbilgi Yer Tutucusu 5"/>
          <p:cNvSpPr>
            <a:spLocks noGrp="1"/>
          </p:cNvSpPr>
          <p:nvPr>
            <p:ph type="ftr" sz="quarter" idx="11"/>
          </p:nvPr>
        </p:nvSpPr>
        <p:spPr/>
        <p:txBody>
          <a:bodyPr/>
          <a:lstStyle/>
          <a:p>
            <a:endParaRPr lang="en-US"/>
          </a:p>
        </p:txBody>
      </p:sp>
      <p:sp>
        <p:nvSpPr>
          <p:cNvPr id="7" name="Slayt Numarası Yer Tutucusu 6"/>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3292172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839788" y="365125"/>
            <a:ext cx="10515600" cy="1325563"/>
          </a:xfrm>
        </p:spPr>
        <p:txBody>
          <a:bodyPr/>
          <a:lstStyle/>
          <a:p>
            <a:r>
              <a:rPr lang="tr-TR" smtClean="0"/>
              <a:t>Asıl başlık stili için tıklatın</a:t>
            </a:r>
            <a:endParaRPr lang="en-US"/>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839788" y="2505075"/>
            <a:ext cx="5157787" cy="3684588"/>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6172200" y="2505075"/>
            <a:ext cx="5183188" cy="3684588"/>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7" name="Veri Yer Tutucusu 6"/>
          <p:cNvSpPr>
            <a:spLocks noGrp="1"/>
          </p:cNvSpPr>
          <p:nvPr>
            <p:ph type="dt" sz="half" idx="10"/>
          </p:nvPr>
        </p:nvSpPr>
        <p:spPr/>
        <p:txBody>
          <a:bodyPr/>
          <a:lstStyle/>
          <a:p>
            <a:fld id="{6402DA71-CE98-4DBA-82CB-1F85D4AF65B2}" type="datetimeFigureOut">
              <a:rPr lang="en-US" smtClean="0"/>
              <a:t>2/6/2026</a:t>
            </a:fld>
            <a:endParaRPr lang="en-US"/>
          </a:p>
        </p:txBody>
      </p:sp>
      <p:sp>
        <p:nvSpPr>
          <p:cNvPr id="8" name="Altbilgi Yer Tutucusu 7"/>
          <p:cNvSpPr>
            <a:spLocks noGrp="1"/>
          </p:cNvSpPr>
          <p:nvPr>
            <p:ph type="ftr" sz="quarter" idx="11"/>
          </p:nvPr>
        </p:nvSpPr>
        <p:spPr/>
        <p:txBody>
          <a:bodyPr/>
          <a:lstStyle/>
          <a:p>
            <a:endParaRPr lang="en-US"/>
          </a:p>
        </p:txBody>
      </p:sp>
      <p:sp>
        <p:nvSpPr>
          <p:cNvPr id="9" name="Slayt Numarası Yer Tutucusu 8"/>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3386869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en-US"/>
          </a:p>
        </p:txBody>
      </p:sp>
      <p:sp>
        <p:nvSpPr>
          <p:cNvPr id="3" name="Veri Yer Tutucusu 2"/>
          <p:cNvSpPr>
            <a:spLocks noGrp="1"/>
          </p:cNvSpPr>
          <p:nvPr>
            <p:ph type="dt" sz="half" idx="10"/>
          </p:nvPr>
        </p:nvSpPr>
        <p:spPr/>
        <p:txBody>
          <a:bodyPr/>
          <a:lstStyle/>
          <a:p>
            <a:fld id="{6402DA71-CE98-4DBA-82CB-1F85D4AF65B2}" type="datetimeFigureOut">
              <a:rPr lang="en-US" smtClean="0"/>
              <a:t>2/6/2026</a:t>
            </a:fld>
            <a:endParaRPr lang="en-US"/>
          </a:p>
        </p:txBody>
      </p:sp>
      <p:sp>
        <p:nvSpPr>
          <p:cNvPr id="4" name="Altbilgi Yer Tutucusu 3"/>
          <p:cNvSpPr>
            <a:spLocks noGrp="1"/>
          </p:cNvSpPr>
          <p:nvPr>
            <p:ph type="ftr" sz="quarter" idx="11"/>
          </p:nvPr>
        </p:nvSpPr>
        <p:spPr/>
        <p:txBody>
          <a:bodyPr/>
          <a:lstStyle/>
          <a:p>
            <a:endParaRPr lang="en-US"/>
          </a:p>
        </p:txBody>
      </p:sp>
      <p:sp>
        <p:nvSpPr>
          <p:cNvPr id="5" name="Slayt Numarası Yer Tutucusu 4"/>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858726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6402DA71-CE98-4DBA-82CB-1F85D4AF65B2}" type="datetimeFigureOut">
              <a:rPr lang="en-US" smtClean="0"/>
              <a:t>2/6/2026</a:t>
            </a:fld>
            <a:endParaRPr lang="en-US"/>
          </a:p>
        </p:txBody>
      </p:sp>
      <p:sp>
        <p:nvSpPr>
          <p:cNvPr id="3" name="Altbilgi Yer Tutucusu 2"/>
          <p:cNvSpPr>
            <a:spLocks noGrp="1"/>
          </p:cNvSpPr>
          <p:nvPr>
            <p:ph type="ftr" sz="quarter" idx="11"/>
          </p:nvPr>
        </p:nvSpPr>
        <p:spPr/>
        <p:txBody>
          <a:bodyPr/>
          <a:lstStyle/>
          <a:p>
            <a:endParaRPr lang="en-US"/>
          </a:p>
        </p:txBody>
      </p:sp>
      <p:sp>
        <p:nvSpPr>
          <p:cNvPr id="4" name="Slayt Numarası Yer Tutucusu 3"/>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509945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en-US"/>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6402DA71-CE98-4DBA-82CB-1F85D4AF65B2}" type="datetimeFigureOut">
              <a:rPr lang="en-US" smtClean="0"/>
              <a:t>2/6/2026</a:t>
            </a:fld>
            <a:endParaRPr lang="en-US"/>
          </a:p>
        </p:txBody>
      </p:sp>
      <p:sp>
        <p:nvSpPr>
          <p:cNvPr id="6" name="Altbilgi Yer Tutucusu 5"/>
          <p:cNvSpPr>
            <a:spLocks noGrp="1"/>
          </p:cNvSpPr>
          <p:nvPr>
            <p:ph type="ftr" sz="quarter" idx="11"/>
          </p:nvPr>
        </p:nvSpPr>
        <p:spPr/>
        <p:txBody>
          <a:bodyPr/>
          <a:lstStyle/>
          <a:p>
            <a:endParaRPr lang="en-US"/>
          </a:p>
        </p:txBody>
      </p:sp>
      <p:sp>
        <p:nvSpPr>
          <p:cNvPr id="7" name="Slayt Numarası Yer Tutucusu 6"/>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3112445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en-US"/>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6402DA71-CE98-4DBA-82CB-1F85D4AF65B2}" type="datetimeFigureOut">
              <a:rPr lang="en-US" smtClean="0"/>
              <a:t>2/6/2026</a:t>
            </a:fld>
            <a:endParaRPr lang="en-US"/>
          </a:p>
        </p:txBody>
      </p:sp>
      <p:sp>
        <p:nvSpPr>
          <p:cNvPr id="6" name="Altbilgi Yer Tutucusu 5"/>
          <p:cNvSpPr>
            <a:spLocks noGrp="1"/>
          </p:cNvSpPr>
          <p:nvPr>
            <p:ph type="ftr" sz="quarter" idx="11"/>
          </p:nvPr>
        </p:nvSpPr>
        <p:spPr/>
        <p:txBody>
          <a:bodyPr/>
          <a:lstStyle/>
          <a:p>
            <a:endParaRPr lang="en-US"/>
          </a:p>
        </p:txBody>
      </p:sp>
      <p:sp>
        <p:nvSpPr>
          <p:cNvPr id="7" name="Slayt Numarası Yer Tutucusu 6"/>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3956987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en-US"/>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Veri Yer Tutucusu 3"/>
          <p:cNvSpPr>
            <a:spLocks noGrp="1"/>
          </p:cNvSpPr>
          <p:nvPr>
            <p:ph type="dt" sz="half" idx="10"/>
          </p:nvPr>
        </p:nvSpPr>
        <p:spPr/>
        <p:txBody>
          <a:bodyPr/>
          <a:lstStyle/>
          <a:p>
            <a:fld id="{6402DA71-CE98-4DBA-82CB-1F85D4AF65B2}" type="datetimeFigureOut">
              <a:rPr lang="en-US" smtClean="0"/>
              <a:t>2/6/2026</a:t>
            </a:fld>
            <a:endParaRPr lang="en-US"/>
          </a:p>
        </p:txBody>
      </p:sp>
      <p:sp>
        <p:nvSpPr>
          <p:cNvPr id="5" name="Altbilgi Yer Tutucusu 4"/>
          <p:cNvSpPr>
            <a:spLocks noGrp="1"/>
          </p:cNvSpPr>
          <p:nvPr>
            <p:ph type="ftr" sz="quarter" idx="11"/>
          </p:nvPr>
        </p:nvSpPr>
        <p:spPr/>
        <p:txBody>
          <a:bodyPr/>
          <a:lstStyle/>
          <a:p>
            <a:endParaRPr lang="en-US"/>
          </a:p>
        </p:txBody>
      </p:sp>
      <p:sp>
        <p:nvSpPr>
          <p:cNvPr id="6" name="Slayt Numarası Yer Tutucusu 5"/>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775720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smtClean="0"/>
              <a:t>Asıl başlık stili için tıklatın</a:t>
            </a:r>
            <a:endParaRPr lang="en-US"/>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Veri Yer Tutucusu 3"/>
          <p:cNvSpPr>
            <a:spLocks noGrp="1"/>
          </p:cNvSpPr>
          <p:nvPr>
            <p:ph type="dt" sz="half" idx="10"/>
          </p:nvPr>
        </p:nvSpPr>
        <p:spPr/>
        <p:txBody>
          <a:bodyPr/>
          <a:lstStyle/>
          <a:p>
            <a:fld id="{6402DA71-CE98-4DBA-82CB-1F85D4AF65B2}" type="datetimeFigureOut">
              <a:rPr lang="en-US" smtClean="0"/>
              <a:t>2/6/2026</a:t>
            </a:fld>
            <a:endParaRPr lang="en-US"/>
          </a:p>
        </p:txBody>
      </p:sp>
      <p:sp>
        <p:nvSpPr>
          <p:cNvPr id="5" name="Altbilgi Yer Tutucusu 4"/>
          <p:cNvSpPr>
            <a:spLocks noGrp="1"/>
          </p:cNvSpPr>
          <p:nvPr>
            <p:ph type="ftr" sz="quarter" idx="11"/>
          </p:nvPr>
        </p:nvSpPr>
        <p:spPr/>
        <p:txBody>
          <a:bodyPr/>
          <a:lstStyle/>
          <a:p>
            <a:endParaRPr lang="en-US"/>
          </a:p>
        </p:txBody>
      </p:sp>
      <p:sp>
        <p:nvSpPr>
          <p:cNvPr id="6" name="Slayt Numarası Yer Tutucusu 5"/>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214010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smtClean="0"/>
              <a:t>Asıl başlık stili için tıklatın</a:t>
            </a:r>
            <a:endParaRPr lang="en-US"/>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02DA71-CE98-4DBA-82CB-1F85D4AF65B2}" type="datetimeFigureOut">
              <a:rPr lang="en-US" smtClean="0"/>
              <a:t>2/6/2026</a:t>
            </a:fld>
            <a:endParaRPr lang="en-US"/>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3A9EAB-2614-4F0E-B6AF-951B6F1A3A57}" type="slidenum">
              <a:rPr lang="en-US" smtClean="0"/>
              <a:t>‹#›</a:t>
            </a:fld>
            <a:endParaRPr lang="en-US"/>
          </a:p>
        </p:txBody>
      </p:sp>
    </p:spTree>
    <p:extLst>
      <p:ext uri="{BB962C8B-B14F-4D97-AF65-F5344CB8AC3E}">
        <p14:creationId xmlns:p14="http://schemas.microsoft.com/office/powerpoint/2010/main" val="20150225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a:xfrm>
            <a:off x="1584385" y="448573"/>
            <a:ext cx="9144000" cy="1111820"/>
          </a:xfrm>
        </p:spPr>
        <p:txBody>
          <a:bodyPr/>
          <a:lstStyle/>
          <a:p>
            <a:r>
              <a:rPr lang="en-US" dirty="0" smtClean="0"/>
              <a:t>Report Overview</a:t>
            </a:r>
            <a:endParaRPr lang="en-US" dirty="0"/>
          </a:p>
        </p:txBody>
      </p:sp>
      <p:sp>
        <p:nvSpPr>
          <p:cNvPr id="3" name="Alt Başlık 2"/>
          <p:cNvSpPr>
            <a:spLocks noGrp="1"/>
          </p:cNvSpPr>
          <p:nvPr>
            <p:ph type="subTitle" idx="1"/>
          </p:nvPr>
        </p:nvSpPr>
        <p:spPr>
          <a:xfrm>
            <a:off x="1524000" y="1932317"/>
            <a:ext cx="9144000" cy="4295955"/>
          </a:xfrm>
        </p:spPr>
        <p:txBody>
          <a:bodyPr>
            <a:normAutofit fontScale="92500" lnSpcReduction="20000"/>
          </a:bodyPr>
          <a:lstStyle/>
          <a:p>
            <a:r>
              <a:rPr lang="en-US" b="1" dirty="0" smtClean="0"/>
              <a:t>Report Introduction and Use of AI Tools</a:t>
            </a:r>
          </a:p>
          <a:p>
            <a:r>
              <a:rPr lang="en-US" dirty="0" smtClean="0"/>
              <a:t>This report provides a detailed explanation of each individual notebook cell used to complete Task 3, covering model design choices, training procedures, evaluation results, and visual outputs. Each code cell is explained in a structured and written form in order to clearly justify the implemented approaches and facilitate understanding during presentation.</a:t>
            </a:r>
          </a:p>
          <a:p>
            <a:r>
              <a:rPr lang="en-US" dirty="0" smtClean="0"/>
              <a:t>Artificial Intelligence tools were used as a </a:t>
            </a:r>
            <a:r>
              <a:rPr lang="en-US" b="1" dirty="0" smtClean="0"/>
              <a:t>supportive aid</a:t>
            </a:r>
            <a:r>
              <a:rPr lang="en-US" dirty="0" smtClean="0"/>
              <a:t> during this work. In particular, AI assistance was leveraged to explore suitable neural network architectures, compare alternative design choices, and ensure that the proposed solutions align with best practices introduced in the course </a:t>
            </a:r>
            <a:r>
              <a:rPr lang="en-US" dirty="0" smtClean="0"/>
              <a:t>material</a:t>
            </a:r>
            <a:r>
              <a:rPr lang="tr-TR" dirty="0" smtClean="0"/>
              <a:t>,</a:t>
            </a:r>
            <a:r>
              <a:rPr lang="en-US" dirty="0"/>
              <a:t> AI tools were </a:t>
            </a:r>
            <a:r>
              <a:rPr lang="tr-TR" dirty="0" err="1" smtClean="0"/>
              <a:t>also</a:t>
            </a:r>
            <a:r>
              <a:rPr lang="tr-TR" dirty="0" smtClean="0"/>
              <a:t> </a:t>
            </a:r>
            <a:r>
              <a:rPr lang="en-US" dirty="0" smtClean="0"/>
              <a:t>used </a:t>
            </a:r>
            <a:r>
              <a:rPr lang="en-US" dirty="0"/>
              <a:t>to assist in code writing and </a:t>
            </a:r>
            <a:r>
              <a:rPr lang="en-US" dirty="0" smtClean="0"/>
              <a:t>optimization</a:t>
            </a:r>
            <a:r>
              <a:rPr lang="en-US" dirty="0" smtClean="0"/>
              <a:t>. </a:t>
            </a:r>
            <a:endParaRPr lang="tr-TR" dirty="0" smtClean="0"/>
          </a:p>
          <a:p>
            <a:r>
              <a:rPr lang="en-US" dirty="0" smtClean="0"/>
              <a:t>In </a:t>
            </a:r>
            <a:r>
              <a:rPr lang="en-US" dirty="0" smtClean="0"/>
              <a:t>addition, AI was used to help construct clear, well-structured explanations for this report. All implementations, experimental decisions, and interpretations remain grounded in the course lectures and assignment instructions.</a:t>
            </a:r>
            <a:endParaRPr lang="en-US" dirty="0"/>
          </a:p>
        </p:txBody>
      </p:sp>
    </p:spTree>
    <p:extLst>
      <p:ext uri="{BB962C8B-B14F-4D97-AF65-F5344CB8AC3E}">
        <p14:creationId xmlns:p14="http://schemas.microsoft.com/office/powerpoint/2010/main" val="354217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83079" y="940278"/>
            <a:ext cx="10860656" cy="4524315"/>
          </a:xfrm>
          <a:prstGeom prst="rect">
            <a:avLst/>
          </a:prstGeom>
        </p:spPr>
        <p:txBody>
          <a:bodyPr wrap="square">
            <a:spAutoFit/>
          </a:bodyPr>
          <a:lstStyle/>
          <a:p>
            <a:r>
              <a:rPr lang="en-US" b="1" dirty="0" smtClean="0"/>
              <a:t>Task 3 – Detailed Written Explanations </a:t>
            </a:r>
            <a:r>
              <a:rPr lang="tr-TR" b="1" dirty="0" smtClean="0"/>
              <a:t>of </a:t>
            </a:r>
            <a:r>
              <a:rPr lang="tr-TR" b="1" dirty="0" err="1" smtClean="0"/>
              <a:t>each</a:t>
            </a:r>
            <a:r>
              <a:rPr lang="tr-TR" b="1" dirty="0" smtClean="0"/>
              <a:t> </a:t>
            </a:r>
            <a:r>
              <a:rPr lang="tr-TR" b="1" dirty="0" err="1" smtClean="0"/>
              <a:t>cell</a:t>
            </a:r>
            <a:endParaRPr lang="tr-TR" b="1" dirty="0" smtClean="0"/>
          </a:p>
          <a:p>
            <a:endParaRPr lang="tr-TR" b="1" dirty="0"/>
          </a:p>
          <a:p>
            <a:r>
              <a:rPr lang="tr-TR" dirty="0" smtClean="0"/>
              <a:t>1. </a:t>
            </a:r>
            <a:r>
              <a:rPr lang="en-US" dirty="0" smtClean="0"/>
              <a:t>Imports and Environment </a:t>
            </a:r>
            <a:r>
              <a:rPr lang="en-US" dirty="0" err="1" smtClean="0"/>
              <a:t>SetupIn</a:t>
            </a:r>
            <a:r>
              <a:rPr lang="en-US" dirty="0" smtClean="0"/>
              <a:t> this cell, all the required Python libraries are imported. </a:t>
            </a:r>
            <a:r>
              <a:rPr lang="en-US" dirty="0" err="1" smtClean="0"/>
              <a:t>NumPy</a:t>
            </a:r>
            <a:r>
              <a:rPr lang="en-US" dirty="0" smtClean="0"/>
              <a:t> is used for numerical operations and array manipulation, </a:t>
            </a:r>
            <a:r>
              <a:rPr lang="en-US" dirty="0" err="1" smtClean="0"/>
              <a:t>Matplotlib</a:t>
            </a:r>
            <a:r>
              <a:rPr lang="en-US" dirty="0" smtClean="0"/>
              <a:t> is used for visualizing results and reconstructions, and </a:t>
            </a:r>
            <a:r>
              <a:rPr lang="en-US" dirty="0" err="1" smtClean="0"/>
              <a:t>TensorFlow</a:t>
            </a:r>
            <a:r>
              <a:rPr lang="en-US" dirty="0" smtClean="0"/>
              <a:t> with </a:t>
            </a:r>
            <a:r>
              <a:rPr lang="en-US" dirty="0" err="1" smtClean="0"/>
              <a:t>Keras</a:t>
            </a:r>
            <a:r>
              <a:rPr lang="en-US" dirty="0" smtClean="0"/>
              <a:t> provides the framework for defining, training, and evaluating neural networks. Using </a:t>
            </a:r>
            <a:r>
              <a:rPr lang="en-US" dirty="0" err="1" smtClean="0"/>
              <a:t>Keras</a:t>
            </a:r>
            <a:r>
              <a:rPr lang="en-US" dirty="0" smtClean="0"/>
              <a:t> allows us to focus on model design rather than low-level implementation details. This cell prepares the environment and is necessary for all subsequent computations.</a:t>
            </a:r>
            <a:endParaRPr lang="tr-TR" dirty="0" smtClean="0"/>
          </a:p>
          <a:p>
            <a:r>
              <a:rPr lang="tr-TR" dirty="0" smtClean="0"/>
              <a:t>2. </a:t>
            </a:r>
            <a:r>
              <a:rPr lang="en-US" dirty="0" smtClean="0"/>
              <a:t>Loading and Normalizing the Fashion-MNIST </a:t>
            </a:r>
            <a:r>
              <a:rPr lang="en-US" dirty="0" err="1" smtClean="0"/>
              <a:t>DatasetThis</a:t>
            </a:r>
            <a:r>
              <a:rPr lang="en-US" dirty="0" smtClean="0"/>
              <a:t> cell loads the Fashion-MNIST dataset, which consists of 28×28 grayscale images of clothing items. The dataset is split into a training set of 60,000 images and a test set of 10,000 images. The pixel values are normalized by dividing by 255, scaling them to the range [0, 1]. Normalization is essential because neural networks converge faster and more stably when input features are within a small, consistent range.</a:t>
            </a:r>
            <a:endParaRPr lang="tr-TR" dirty="0" smtClean="0"/>
          </a:p>
          <a:p>
            <a:r>
              <a:rPr lang="tr-TR" dirty="0" smtClean="0"/>
              <a:t>3. </a:t>
            </a:r>
            <a:r>
              <a:rPr lang="en-US" dirty="0" smtClean="0"/>
              <a:t>Reshaping Images for </a:t>
            </a:r>
            <a:r>
              <a:rPr lang="en-US" dirty="0" err="1" smtClean="0"/>
              <a:t>AutoencodersIn</a:t>
            </a:r>
            <a:r>
              <a:rPr lang="en-US" dirty="0" smtClean="0"/>
              <a:t> this cell, the images are reshaped to include an explicit channel dimension, converting them from shape (28, 28) to (28, 28, 1). Although the images are grayscale, convolutional layers expect a channel dimension. This step ensures compatibility with both dense and convolutional </a:t>
            </a:r>
            <a:r>
              <a:rPr lang="en-US" dirty="0" err="1" smtClean="0"/>
              <a:t>autoencoder</a:t>
            </a:r>
            <a:r>
              <a:rPr lang="en-US" dirty="0" smtClean="0"/>
              <a:t> architectures used later in the notebook.</a:t>
            </a:r>
            <a:endParaRPr lang="en-US" dirty="0"/>
          </a:p>
        </p:txBody>
      </p:sp>
    </p:spTree>
    <p:extLst>
      <p:ext uri="{BB962C8B-B14F-4D97-AF65-F5344CB8AC3E}">
        <p14:creationId xmlns:p14="http://schemas.microsoft.com/office/powerpoint/2010/main" val="2190798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62309" y="586596"/>
            <a:ext cx="11119449" cy="5355312"/>
          </a:xfrm>
          <a:prstGeom prst="rect">
            <a:avLst/>
          </a:prstGeom>
        </p:spPr>
        <p:txBody>
          <a:bodyPr wrap="square">
            <a:spAutoFit/>
          </a:bodyPr>
          <a:lstStyle/>
          <a:p>
            <a:r>
              <a:rPr lang="en-US" dirty="0" smtClean="0"/>
              <a:t>Task 3-1: Vanilla vs Deep Dense </a:t>
            </a:r>
            <a:r>
              <a:rPr lang="en-US" dirty="0" err="1" smtClean="0"/>
              <a:t>Autoencoders</a:t>
            </a:r>
            <a:endParaRPr lang="tr-TR" dirty="0" smtClean="0"/>
          </a:p>
          <a:p>
            <a:endParaRPr lang="tr-TR" dirty="0" smtClean="0"/>
          </a:p>
          <a:p>
            <a:r>
              <a:rPr lang="en-US" dirty="0" smtClean="0"/>
              <a:t>4. Defining the Vanilla Dense </a:t>
            </a:r>
            <a:r>
              <a:rPr lang="en-US" dirty="0" err="1" smtClean="0"/>
              <a:t>Autoencoder</a:t>
            </a:r>
            <a:endParaRPr lang="tr-TR" dirty="0" smtClean="0"/>
          </a:p>
          <a:p>
            <a:r>
              <a:rPr lang="en-US" dirty="0" smtClean="0"/>
              <a:t>This cell defines a simple, shallow </a:t>
            </a:r>
            <a:r>
              <a:rPr lang="en-US" dirty="0" err="1" smtClean="0"/>
              <a:t>autoencoder</a:t>
            </a:r>
            <a:r>
              <a:rPr lang="en-US" dirty="0" smtClean="0"/>
              <a:t> consisting of a single hidden bottleneck layer. The encoder flattens the input image and compresses it into a 64-dimensional latent representation. The decoder then reconstructs the original image from this compressed representation. This is an </a:t>
            </a:r>
            <a:r>
              <a:rPr lang="en-US" dirty="0" err="1" smtClean="0"/>
              <a:t>undercomplete</a:t>
            </a:r>
            <a:r>
              <a:rPr lang="en-US" dirty="0" smtClean="0"/>
              <a:t> </a:t>
            </a:r>
            <a:r>
              <a:rPr lang="en-US" dirty="0" err="1" smtClean="0"/>
              <a:t>autoencoder</a:t>
            </a:r>
            <a:r>
              <a:rPr lang="en-US" dirty="0" smtClean="0"/>
              <a:t>, meaning the latent space is smaller than the input space, forcing the model to learn the most important features of the data.</a:t>
            </a:r>
            <a:endParaRPr lang="tr-TR" dirty="0" smtClean="0"/>
          </a:p>
          <a:p>
            <a:endParaRPr lang="tr-TR" dirty="0" smtClean="0"/>
          </a:p>
          <a:p>
            <a:r>
              <a:rPr lang="en-US" dirty="0" smtClean="0"/>
              <a:t>5.</a:t>
            </a:r>
            <a:r>
              <a:rPr lang="tr-TR" dirty="0" smtClean="0"/>
              <a:t> </a:t>
            </a:r>
            <a:r>
              <a:rPr lang="en-US" dirty="0" smtClean="0"/>
              <a:t>Training and Evaluating the Vanilla </a:t>
            </a:r>
            <a:r>
              <a:rPr lang="en-US" dirty="0" err="1" smtClean="0"/>
              <a:t>Autoencoder</a:t>
            </a:r>
            <a:endParaRPr lang="tr-TR" dirty="0" smtClean="0"/>
          </a:p>
          <a:p>
            <a:r>
              <a:rPr lang="en-US" dirty="0" smtClean="0"/>
              <a:t>Here, the vanilla </a:t>
            </a:r>
            <a:r>
              <a:rPr lang="en-US" dirty="0" err="1" smtClean="0"/>
              <a:t>autoencoder</a:t>
            </a:r>
            <a:r>
              <a:rPr lang="en-US" dirty="0" smtClean="0"/>
              <a:t> is trained using mean squared error (MSE) loss, which measures the pixel-wise reconstruction error between the input image and its reconstruction. The model is trained for 15 epochs. The reported test MSE of approximately 0.0099 indicates that the model is able to reconstruct the general structure of the images reasonably well, although some fine details are lost.</a:t>
            </a:r>
            <a:endParaRPr lang="tr-TR" dirty="0" smtClean="0"/>
          </a:p>
          <a:p>
            <a:endParaRPr lang="tr-TR" dirty="0" smtClean="0"/>
          </a:p>
          <a:p>
            <a:r>
              <a:rPr lang="en-US" dirty="0" smtClean="0"/>
              <a:t>6. Defining the Deep Dense </a:t>
            </a:r>
            <a:r>
              <a:rPr lang="en-US" dirty="0" err="1" smtClean="0"/>
              <a:t>Autoencoder</a:t>
            </a:r>
            <a:endParaRPr lang="tr-TR" dirty="0" smtClean="0"/>
          </a:p>
          <a:p>
            <a:r>
              <a:rPr lang="en-US" dirty="0" smtClean="0"/>
              <a:t>This cell defines a deeper </a:t>
            </a:r>
            <a:r>
              <a:rPr lang="en-US" dirty="0" err="1" smtClean="0"/>
              <a:t>autoencoder</a:t>
            </a:r>
            <a:r>
              <a:rPr lang="en-US" dirty="0" smtClean="0"/>
              <a:t> with multiple dense layers in both the encoder and decoder. The latent dimension is reduced to 32, making the compression more aggressive. The deeper architecture allows the model to learn more complex nonlinear transformations compared to the vanilla </a:t>
            </a:r>
            <a:r>
              <a:rPr lang="en-US" dirty="0" err="1" smtClean="0"/>
              <a:t>autoencoder</a:t>
            </a:r>
            <a:r>
              <a:rPr lang="en-US" dirty="0" smtClean="0"/>
              <a:t>, at the cost of increased model complexity.</a:t>
            </a:r>
            <a:endParaRPr lang="tr-TR" dirty="0" smtClean="0"/>
          </a:p>
        </p:txBody>
      </p:sp>
    </p:spTree>
    <p:extLst>
      <p:ext uri="{BB962C8B-B14F-4D97-AF65-F5344CB8AC3E}">
        <p14:creationId xmlns:p14="http://schemas.microsoft.com/office/powerpoint/2010/main" val="18017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27804" y="1132337"/>
            <a:ext cx="11110822" cy="3139321"/>
          </a:xfrm>
          <a:prstGeom prst="rect">
            <a:avLst/>
          </a:prstGeom>
        </p:spPr>
        <p:txBody>
          <a:bodyPr wrap="square">
            <a:spAutoFit/>
          </a:bodyPr>
          <a:lstStyle/>
          <a:p>
            <a:r>
              <a:rPr lang="en-US" dirty="0" smtClean="0"/>
              <a:t>7. Training and Evaluating the Deep Dense </a:t>
            </a:r>
            <a:r>
              <a:rPr lang="en-US" dirty="0" err="1" smtClean="0"/>
              <a:t>Autoencoder</a:t>
            </a:r>
            <a:endParaRPr lang="tr-TR" dirty="0" smtClean="0"/>
          </a:p>
          <a:p>
            <a:r>
              <a:rPr lang="en-US" dirty="0" smtClean="0"/>
              <a:t>The deep </a:t>
            </a:r>
            <a:r>
              <a:rPr lang="en-US" dirty="0" err="1" smtClean="0"/>
              <a:t>autoencoder</a:t>
            </a:r>
            <a:r>
              <a:rPr lang="en-US" dirty="0" smtClean="0"/>
              <a:t> is trained for 20 epochs using the same MSE loss. The resulting test MSE is slightly higher than that of the vanilla </a:t>
            </a:r>
            <a:r>
              <a:rPr lang="en-US" dirty="0" err="1" smtClean="0"/>
              <a:t>autoencoder</a:t>
            </a:r>
            <a:r>
              <a:rPr lang="en-US" dirty="0" smtClean="0"/>
              <a:t>. This shows that increasing model depth does not automatically lead to better reconstruction performance. In this case, the deeper model may be over-smoothing the reconstructions or not generalizing better than the simpler architecture.</a:t>
            </a:r>
            <a:endParaRPr lang="tr-TR" dirty="0" smtClean="0"/>
          </a:p>
          <a:p>
            <a:endParaRPr lang="tr-TR" dirty="0" smtClean="0"/>
          </a:p>
          <a:p>
            <a:r>
              <a:rPr lang="en-US" dirty="0" smtClean="0"/>
              <a:t>8. Visual Comparison of Reconstructions (Vanilla vs Deep AE)</a:t>
            </a:r>
            <a:endParaRPr lang="tr-TR" dirty="0" smtClean="0"/>
          </a:p>
          <a:p>
            <a:r>
              <a:rPr lang="en-US" dirty="0" smtClean="0"/>
              <a:t>This cell visualizes original images alongside reconstructions produced by both the vanilla and deep </a:t>
            </a:r>
            <a:r>
              <a:rPr lang="en-US" dirty="0" err="1" smtClean="0"/>
              <a:t>autoencoders</a:t>
            </a:r>
            <a:r>
              <a:rPr lang="en-US" dirty="0" smtClean="0"/>
              <a:t>. While both models successfully capture the overall shape and category of the clothing items, the reconstructions appear blurred. The deep </a:t>
            </a:r>
            <a:r>
              <a:rPr lang="en-US" dirty="0" err="1" smtClean="0"/>
              <a:t>autoencoder</a:t>
            </a:r>
            <a:r>
              <a:rPr lang="en-US" dirty="0" smtClean="0"/>
              <a:t> tends to produce smoother outputs, but this does not necessarily translate into lower reconstruction error or better visual fidelity.</a:t>
            </a:r>
            <a:endParaRPr lang="en-US" dirty="0"/>
          </a:p>
        </p:txBody>
      </p:sp>
    </p:spTree>
    <p:extLst>
      <p:ext uri="{BB962C8B-B14F-4D97-AF65-F5344CB8AC3E}">
        <p14:creationId xmlns:p14="http://schemas.microsoft.com/office/powerpoint/2010/main" val="658872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759125" y="751344"/>
            <a:ext cx="10912415" cy="4801314"/>
          </a:xfrm>
          <a:prstGeom prst="rect">
            <a:avLst/>
          </a:prstGeom>
        </p:spPr>
        <p:txBody>
          <a:bodyPr wrap="square">
            <a:spAutoFit/>
          </a:bodyPr>
          <a:lstStyle/>
          <a:p>
            <a:r>
              <a:rPr lang="en-US" dirty="0" smtClean="0"/>
              <a:t>Task 3-2: CNN Classification with Regularization</a:t>
            </a:r>
            <a:endParaRPr lang="tr-TR" dirty="0" smtClean="0"/>
          </a:p>
          <a:p>
            <a:endParaRPr lang="tr-TR" dirty="0" smtClean="0"/>
          </a:p>
          <a:p>
            <a:r>
              <a:rPr lang="en-US" dirty="0" smtClean="0"/>
              <a:t>9. Defining CNN Variants</a:t>
            </a:r>
            <a:endParaRPr lang="tr-TR" dirty="0" smtClean="0"/>
          </a:p>
          <a:p>
            <a:r>
              <a:rPr lang="en-US" dirty="0" smtClean="0"/>
              <a:t>In this cell, a function is defined to construct different CNN architectures, including a baseline CNN, a CNN with dropout, and a CNN with batch normalization and dropout. This modular design ensures that all models share the same basic structure, allowing for a fair comparison of regularization techniques.</a:t>
            </a:r>
            <a:endParaRPr lang="tr-TR" dirty="0" smtClean="0"/>
          </a:p>
          <a:p>
            <a:endParaRPr lang="tr-TR" dirty="0" smtClean="0"/>
          </a:p>
          <a:p>
            <a:r>
              <a:rPr lang="en-US" dirty="0" smtClean="0"/>
              <a:t>10. Training and Evaluation Function for CNNs</a:t>
            </a:r>
            <a:endParaRPr lang="tr-TR" dirty="0" smtClean="0"/>
          </a:p>
          <a:p>
            <a:r>
              <a:rPr lang="en-US" dirty="0" smtClean="0"/>
              <a:t>This cell defines a helper function that compiles, trains, and evaluates CNN models. Using a shared training procedure ensures that differences in performance are due to architectural choices rather than training inconsistencies.</a:t>
            </a:r>
            <a:endParaRPr lang="tr-TR" dirty="0" smtClean="0"/>
          </a:p>
          <a:p>
            <a:endParaRPr lang="tr-TR" dirty="0" smtClean="0"/>
          </a:p>
          <a:p>
            <a:r>
              <a:rPr lang="en-US" dirty="0" smtClean="0"/>
              <a:t>11. CNN Performance Comparison (Task 3-2)</a:t>
            </a:r>
            <a:endParaRPr lang="tr-TR" dirty="0" smtClean="0"/>
          </a:p>
          <a:p>
            <a:r>
              <a:rPr lang="en-US" dirty="0" smtClean="0"/>
              <a:t>This cell trains the different CNN variants and summarizes their performance in a table. The CNN with dropout achieves the highest test accuracy (≈ 0.90), outperforming the baseline model. The combination of batch normalization and dropout performs slightly worse, likely due to suboptimal interaction between regularization techniques at this training scale. This result highlights dropout as an effective method for improving generalization.</a:t>
            </a:r>
            <a:endParaRPr lang="en-US" dirty="0"/>
          </a:p>
        </p:txBody>
      </p:sp>
    </p:spTree>
    <p:extLst>
      <p:ext uri="{BB962C8B-B14F-4D97-AF65-F5344CB8AC3E}">
        <p14:creationId xmlns:p14="http://schemas.microsoft.com/office/powerpoint/2010/main" val="2447537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500332" y="1720840"/>
            <a:ext cx="10929668" cy="3139321"/>
          </a:xfrm>
          <a:prstGeom prst="rect">
            <a:avLst/>
          </a:prstGeom>
        </p:spPr>
        <p:txBody>
          <a:bodyPr wrap="square">
            <a:spAutoFit/>
          </a:bodyPr>
          <a:lstStyle/>
          <a:p>
            <a:r>
              <a:rPr lang="en-US" dirty="0" smtClean="0"/>
              <a:t>Task 3-3: CNN Variants on CIFAR-10</a:t>
            </a:r>
            <a:endParaRPr lang="tr-TR" dirty="0" smtClean="0"/>
          </a:p>
          <a:p>
            <a:endParaRPr lang="tr-TR" dirty="0"/>
          </a:p>
          <a:p>
            <a:r>
              <a:rPr lang="en-US" dirty="0" smtClean="0"/>
              <a:t>12. Loading and Preprocessing CIFAR-10</a:t>
            </a:r>
            <a:endParaRPr lang="tr-TR" dirty="0" smtClean="0"/>
          </a:p>
          <a:p>
            <a:r>
              <a:rPr lang="en-US" dirty="0" smtClean="0"/>
              <a:t>This cell loads the CIFAR-10 dataset, which consists of 32×32 RGB images across 10 classes. Compared to Fashion-MNIST, CIFAR-10 is more challenging due to color information and higher visual variability. The images are normalized, and labels are reshaped for compatibility with </a:t>
            </a:r>
            <a:r>
              <a:rPr lang="en-US" dirty="0" err="1" smtClean="0"/>
              <a:t>Keras</a:t>
            </a:r>
            <a:r>
              <a:rPr lang="en-US" dirty="0" smtClean="0"/>
              <a:t>.</a:t>
            </a:r>
            <a:endParaRPr lang="tr-TR" dirty="0" smtClean="0"/>
          </a:p>
          <a:p>
            <a:endParaRPr lang="tr-TR" dirty="0"/>
          </a:p>
          <a:p>
            <a:r>
              <a:rPr lang="en-US" dirty="0" smtClean="0"/>
              <a:t>13. Training CNN Variants on CIFAR-10</a:t>
            </a:r>
            <a:endParaRPr lang="tr-TR" dirty="0" smtClean="0"/>
          </a:p>
          <a:p>
            <a:r>
              <a:rPr lang="en-US" dirty="0" smtClean="0"/>
              <a:t>In this cell, multiple CNN variants are trained on CIFAR-10. The dropout variant again achieves the best test accuracy. Overall accuracy is significantly lower than Fashion-MNIST, reflecting the increased difficulty of CIFAR-10. The results confirm that dropout improves robustness even on more complex datasets.</a:t>
            </a:r>
            <a:endParaRPr lang="en-US" dirty="0"/>
          </a:p>
        </p:txBody>
      </p:sp>
    </p:spTree>
    <p:extLst>
      <p:ext uri="{BB962C8B-B14F-4D97-AF65-F5344CB8AC3E}">
        <p14:creationId xmlns:p14="http://schemas.microsoft.com/office/powerpoint/2010/main" val="3709856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Dikdörtgen 14"/>
          <p:cNvSpPr/>
          <p:nvPr/>
        </p:nvSpPr>
        <p:spPr>
          <a:xfrm>
            <a:off x="457200" y="676134"/>
            <a:ext cx="11274725" cy="5909310"/>
          </a:xfrm>
          <a:prstGeom prst="rect">
            <a:avLst/>
          </a:prstGeom>
        </p:spPr>
        <p:txBody>
          <a:bodyPr wrap="square">
            <a:spAutoFit/>
          </a:bodyPr>
          <a:lstStyle/>
          <a:p>
            <a:r>
              <a:rPr lang="en-US" dirty="0" smtClean="0"/>
              <a:t>Task 3-4 (Extra): Sparse vs </a:t>
            </a:r>
            <a:r>
              <a:rPr lang="en-US" dirty="0" err="1" smtClean="0"/>
              <a:t>Denoising</a:t>
            </a:r>
            <a:r>
              <a:rPr lang="en-US" dirty="0" smtClean="0"/>
              <a:t> </a:t>
            </a:r>
            <a:r>
              <a:rPr lang="en-US" dirty="0" err="1" smtClean="0"/>
              <a:t>Autoencoders</a:t>
            </a:r>
            <a:endParaRPr lang="tr-TR" dirty="0" smtClean="0"/>
          </a:p>
          <a:p>
            <a:endParaRPr lang="tr-TR" dirty="0"/>
          </a:p>
          <a:p>
            <a:r>
              <a:rPr lang="en-US" dirty="0" smtClean="0"/>
              <a:t>14. Defining the Sparse </a:t>
            </a:r>
            <a:r>
              <a:rPr lang="en-US" dirty="0" err="1" smtClean="0"/>
              <a:t>Autoencoder</a:t>
            </a:r>
            <a:endParaRPr lang="tr-TR" dirty="0" smtClean="0"/>
          </a:p>
          <a:p>
            <a:r>
              <a:rPr lang="en-US" dirty="0" smtClean="0"/>
              <a:t>This cell defines a sparse </a:t>
            </a:r>
            <a:r>
              <a:rPr lang="en-US" dirty="0" err="1" smtClean="0"/>
              <a:t>autoencoder</a:t>
            </a:r>
            <a:r>
              <a:rPr lang="en-US" dirty="0" smtClean="0"/>
              <a:t> by applying L1 activity regularization to the bottleneck layer. The goal is to encourage sparsity in neuron activations, meaning that only a small number of neurons are active at a time. This can help with feature interpretability but may reduce reconstruction quality.</a:t>
            </a:r>
            <a:endParaRPr lang="tr-TR" dirty="0" smtClean="0"/>
          </a:p>
          <a:p>
            <a:endParaRPr lang="tr-TR" dirty="0"/>
          </a:p>
          <a:p>
            <a:r>
              <a:rPr lang="en-US" dirty="0" smtClean="0"/>
              <a:t>15. Training and Evaluating the Sparse </a:t>
            </a:r>
            <a:r>
              <a:rPr lang="en-US" dirty="0" err="1" smtClean="0"/>
              <a:t>Autoencoder</a:t>
            </a:r>
            <a:endParaRPr lang="tr-TR" dirty="0" smtClean="0"/>
          </a:p>
          <a:p>
            <a:r>
              <a:rPr lang="en-US" dirty="0" smtClean="0"/>
              <a:t>The sparse </a:t>
            </a:r>
            <a:r>
              <a:rPr lang="en-US" dirty="0" err="1" smtClean="0"/>
              <a:t>autoencoder</a:t>
            </a:r>
            <a:r>
              <a:rPr lang="en-US" dirty="0" smtClean="0"/>
              <a:t> is trained using clean images as both input and target. The resulting test MSE is relatively high, indicating that sparsity constraints limit the model’s ability to reconstruct fine image details accurately.</a:t>
            </a:r>
            <a:endParaRPr lang="tr-TR" dirty="0" smtClean="0"/>
          </a:p>
          <a:p>
            <a:endParaRPr lang="tr-TR" dirty="0"/>
          </a:p>
          <a:p>
            <a:r>
              <a:rPr lang="en-US" dirty="0" smtClean="0"/>
              <a:t>16. Adding Noise for the </a:t>
            </a:r>
            <a:r>
              <a:rPr lang="en-US" dirty="0" err="1" smtClean="0"/>
              <a:t>Denoising</a:t>
            </a:r>
            <a:r>
              <a:rPr lang="en-US" dirty="0" smtClean="0"/>
              <a:t> </a:t>
            </a:r>
            <a:r>
              <a:rPr lang="en-US" dirty="0" err="1" smtClean="0"/>
              <a:t>Autoencoder</a:t>
            </a:r>
            <a:endParaRPr lang="tr-TR" dirty="0" smtClean="0"/>
          </a:p>
          <a:p>
            <a:r>
              <a:rPr lang="en-US" dirty="0" smtClean="0"/>
              <a:t>In this cell, Gaussian noise is added to the images, and values are clipped to remain within the valid pixel range. This prepares the dataset for training a </a:t>
            </a:r>
            <a:r>
              <a:rPr lang="en-US" dirty="0" err="1" smtClean="0"/>
              <a:t>denoising</a:t>
            </a:r>
            <a:r>
              <a:rPr lang="en-US" dirty="0" smtClean="0"/>
              <a:t> </a:t>
            </a:r>
            <a:r>
              <a:rPr lang="en-US" dirty="0" err="1" smtClean="0"/>
              <a:t>autoencoder</a:t>
            </a:r>
            <a:r>
              <a:rPr lang="en-US" dirty="0" smtClean="0"/>
              <a:t>, where the model learns to map noisy inputs to clean outputs.</a:t>
            </a:r>
            <a:endParaRPr lang="tr-TR" dirty="0" smtClean="0"/>
          </a:p>
          <a:p>
            <a:endParaRPr lang="tr-TR" dirty="0"/>
          </a:p>
          <a:p>
            <a:r>
              <a:rPr lang="en-US" dirty="0" smtClean="0"/>
              <a:t>17. Defining the </a:t>
            </a:r>
            <a:r>
              <a:rPr lang="en-US" dirty="0" err="1" smtClean="0"/>
              <a:t>Denoising</a:t>
            </a:r>
            <a:r>
              <a:rPr lang="en-US" dirty="0" smtClean="0"/>
              <a:t> </a:t>
            </a:r>
            <a:r>
              <a:rPr lang="en-US" dirty="0" err="1" smtClean="0"/>
              <a:t>Autoencoder</a:t>
            </a:r>
            <a:endParaRPr lang="tr-TR" dirty="0" smtClean="0"/>
          </a:p>
          <a:p>
            <a:r>
              <a:rPr lang="en-US" dirty="0" smtClean="0"/>
              <a:t>This cell defines a </a:t>
            </a:r>
            <a:r>
              <a:rPr lang="en-US" dirty="0" err="1" smtClean="0"/>
              <a:t>denoising</a:t>
            </a:r>
            <a:r>
              <a:rPr lang="en-US" dirty="0" smtClean="0"/>
              <a:t> </a:t>
            </a:r>
            <a:r>
              <a:rPr lang="en-US" dirty="0" err="1" smtClean="0"/>
              <a:t>autoencoder</a:t>
            </a:r>
            <a:r>
              <a:rPr lang="en-US" dirty="0" smtClean="0"/>
              <a:t> that takes noisy images as input and outputs clean reconstructions. The architecture is similar to the dense </a:t>
            </a:r>
            <a:r>
              <a:rPr lang="en-US" dirty="0" err="1" smtClean="0"/>
              <a:t>autoencoders</a:t>
            </a:r>
            <a:r>
              <a:rPr lang="en-US" dirty="0" smtClean="0"/>
              <a:t> used earlier but is trained under a different objective that encourages robustness to noise.</a:t>
            </a:r>
            <a:endParaRPr lang="tr-TR" dirty="0" smtClean="0"/>
          </a:p>
          <a:p>
            <a:endParaRPr lang="tr-TR" dirty="0"/>
          </a:p>
        </p:txBody>
      </p:sp>
    </p:spTree>
    <p:extLst>
      <p:ext uri="{BB962C8B-B14F-4D97-AF65-F5344CB8AC3E}">
        <p14:creationId xmlns:p14="http://schemas.microsoft.com/office/powerpoint/2010/main" val="65188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595222" y="1595886"/>
            <a:ext cx="11188461" cy="2585323"/>
          </a:xfrm>
          <a:prstGeom prst="rect">
            <a:avLst/>
          </a:prstGeom>
        </p:spPr>
        <p:txBody>
          <a:bodyPr wrap="square">
            <a:spAutoFit/>
          </a:bodyPr>
          <a:lstStyle/>
          <a:p>
            <a:r>
              <a:rPr lang="en-US" dirty="0" smtClean="0"/>
              <a:t>18. Training and Evaluating the </a:t>
            </a:r>
            <a:r>
              <a:rPr lang="en-US" dirty="0" err="1" smtClean="0"/>
              <a:t>Denoising</a:t>
            </a:r>
            <a:r>
              <a:rPr lang="en-US" dirty="0" smtClean="0"/>
              <a:t> </a:t>
            </a:r>
            <a:r>
              <a:rPr lang="en-US" dirty="0" err="1" smtClean="0"/>
              <a:t>Autoencoder</a:t>
            </a:r>
            <a:endParaRPr lang="tr-TR" dirty="0" smtClean="0"/>
          </a:p>
          <a:p>
            <a:r>
              <a:rPr lang="en-US" dirty="0" smtClean="0"/>
              <a:t>The </a:t>
            </a:r>
            <a:r>
              <a:rPr lang="en-US" dirty="0" err="1" smtClean="0"/>
              <a:t>denoising</a:t>
            </a:r>
            <a:r>
              <a:rPr lang="en-US" dirty="0" smtClean="0"/>
              <a:t> </a:t>
            </a:r>
            <a:r>
              <a:rPr lang="en-US" dirty="0" err="1" smtClean="0"/>
              <a:t>autoencoder</a:t>
            </a:r>
            <a:r>
              <a:rPr lang="en-US" dirty="0" smtClean="0"/>
              <a:t> is trained for 15 epochs. The test MSE is significantly lower than that of the sparse </a:t>
            </a:r>
            <a:r>
              <a:rPr lang="en-US" dirty="0" err="1" smtClean="0"/>
              <a:t>autoencoder</a:t>
            </a:r>
            <a:r>
              <a:rPr lang="en-US" dirty="0" smtClean="0"/>
              <a:t>. This demonstrates that training with noise helps the model learn more robust and meaningful representations.</a:t>
            </a:r>
            <a:endParaRPr lang="tr-TR" dirty="0" smtClean="0"/>
          </a:p>
          <a:p>
            <a:endParaRPr lang="tr-TR" dirty="0"/>
          </a:p>
          <a:p>
            <a:r>
              <a:rPr lang="en-US" dirty="0" smtClean="0"/>
              <a:t>19. Reconstruction Comparison: Sparse vs </a:t>
            </a:r>
            <a:r>
              <a:rPr lang="en-US" dirty="0" err="1" smtClean="0"/>
              <a:t>Denoising</a:t>
            </a:r>
            <a:r>
              <a:rPr lang="en-US" dirty="0" smtClean="0"/>
              <a:t> AE</a:t>
            </a:r>
            <a:endParaRPr lang="tr-TR" dirty="0" smtClean="0"/>
          </a:p>
          <a:p>
            <a:r>
              <a:rPr lang="en-US" dirty="0" smtClean="0"/>
              <a:t>This cell visualizes the reconstructions produced by both </a:t>
            </a:r>
            <a:r>
              <a:rPr lang="en-US" dirty="0" err="1" smtClean="0"/>
              <a:t>autoencoders</a:t>
            </a:r>
            <a:r>
              <a:rPr lang="en-US" dirty="0" smtClean="0"/>
              <a:t>. The sparse </a:t>
            </a:r>
            <a:r>
              <a:rPr lang="en-US" dirty="0" err="1" smtClean="0"/>
              <a:t>autoencoder</a:t>
            </a:r>
            <a:r>
              <a:rPr lang="en-US" dirty="0" smtClean="0"/>
              <a:t> produces blurry reconstructions, while the </a:t>
            </a:r>
            <a:r>
              <a:rPr lang="en-US" dirty="0" err="1" smtClean="0"/>
              <a:t>denoising</a:t>
            </a:r>
            <a:r>
              <a:rPr lang="en-US" dirty="0" smtClean="0"/>
              <a:t> </a:t>
            </a:r>
            <a:r>
              <a:rPr lang="en-US" dirty="0" err="1" smtClean="0"/>
              <a:t>autoencoder</a:t>
            </a:r>
            <a:r>
              <a:rPr lang="en-US" dirty="0" smtClean="0"/>
              <a:t> successfully removes noise and preserves the overall structure of the images. This visual comparison reinforces the quantitative results.</a:t>
            </a:r>
            <a:endParaRPr lang="en-US" dirty="0"/>
          </a:p>
        </p:txBody>
      </p:sp>
    </p:spTree>
    <p:extLst>
      <p:ext uri="{BB962C8B-B14F-4D97-AF65-F5344CB8AC3E}">
        <p14:creationId xmlns:p14="http://schemas.microsoft.com/office/powerpoint/2010/main" val="481893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67419" y="508958"/>
            <a:ext cx="11041811" cy="4247317"/>
          </a:xfrm>
          <a:prstGeom prst="rect">
            <a:avLst/>
          </a:prstGeom>
        </p:spPr>
        <p:txBody>
          <a:bodyPr wrap="square">
            <a:spAutoFit/>
          </a:bodyPr>
          <a:lstStyle/>
          <a:p>
            <a:r>
              <a:rPr lang="en-US" dirty="0" smtClean="0"/>
              <a:t>Task 3-5 (Extra): CNN </a:t>
            </a:r>
            <a:r>
              <a:rPr lang="en-US" dirty="0" err="1" smtClean="0"/>
              <a:t>Autoencoder</a:t>
            </a:r>
            <a:r>
              <a:rPr lang="en-US" dirty="0" smtClean="0"/>
              <a:t> vs Deep Dense </a:t>
            </a:r>
            <a:r>
              <a:rPr lang="en-US" dirty="0" err="1" smtClean="0"/>
              <a:t>Autoencoder</a:t>
            </a:r>
            <a:endParaRPr lang="tr-TR" dirty="0" smtClean="0"/>
          </a:p>
          <a:p>
            <a:endParaRPr lang="tr-TR" dirty="0"/>
          </a:p>
          <a:p>
            <a:r>
              <a:rPr lang="en-US" dirty="0" smtClean="0"/>
              <a:t>20. Defining the CNN </a:t>
            </a:r>
            <a:r>
              <a:rPr lang="en-US" dirty="0" err="1" smtClean="0"/>
              <a:t>Autoencoder</a:t>
            </a:r>
            <a:endParaRPr lang="tr-TR" dirty="0" smtClean="0"/>
          </a:p>
          <a:p>
            <a:r>
              <a:rPr lang="en-US" dirty="0" smtClean="0"/>
              <a:t>This cell defines a convolutional </a:t>
            </a:r>
            <a:r>
              <a:rPr lang="en-US" dirty="0" err="1" smtClean="0"/>
              <a:t>autoencoder</a:t>
            </a:r>
            <a:r>
              <a:rPr lang="en-US" dirty="0" smtClean="0"/>
              <a:t> that uses convolutional layers and pooling for encoding, and </a:t>
            </a:r>
            <a:r>
              <a:rPr lang="en-US" dirty="0" err="1" smtClean="0"/>
              <a:t>upsampling</a:t>
            </a:r>
            <a:r>
              <a:rPr lang="en-US" dirty="0" smtClean="0"/>
              <a:t> for decoding. Unlike dense </a:t>
            </a:r>
            <a:r>
              <a:rPr lang="en-US" dirty="0" err="1" smtClean="0"/>
              <a:t>autoencoders</a:t>
            </a:r>
            <a:r>
              <a:rPr lang="en-US" dirty="0" smtClean="0"/>
              <a:t>, CNN </a:t>
            </a:r>
            <a:r>
              <a:rPr lang="en-US" dirty="0" err="1" smtClean="0"/>
              <a:t>autoencoders</a:t>
            </a:r>
            <a:r>
              <a:rPr lang="en-US" dirty="0" smtClean="0"/>
              <a:t> preserve spatial structure, making them better suited for image reconstruction tasks.</a:t>
            </a:r>
            <a:endParaRPr lang="tr-TR" dirty="0" smtClean="0"/>
          </a:p>
          <a:p>
            <a:endParaRPr lang="tr-TR" dirty="0"/>
          </a:p>
          <a:p>
            <a:r>
              <a:rPr lang="en-US" dirty="0" smtClean="0"/>
              <a:t>21. Training and Evaluating the CNN </a:t>
            </a:r>
            <a:r>
              <a:rPr lang="en-US" dirty="0" err="1" smtClean="0"/>
              <a:t>Autoencoder</a:t>
            </a:r>
            <a:endParaRPr lang="tr-TR" dirty="0" smtClean="0"/>
          </a:p>
          <a:p>
            <a:r>
              <a:rPr lang="en-US" dirty="0" smtClean="0"/>
              <a:t>The CNN </a:t>
            </a:r>
            <a:r>
              <a:rPr lang="en-US" dirty="0" err="1" smtClean="0"/>
              <a:t>autoencoder</a:t>
            </a:r>
            <a:r>
              <a:rPr lang="en-US" dirty="0" smtClean="0"/>
              <a:t> is trained and evaluated using MSE loss. It achieves the lowest test MSE among all </a:t>
            </a:r>
            <a:r>
              <a:rPr lang="en-US" dirty="0" err="1" smtClean="0"/>
              <a:t>autoencoders</a:t>
            </a:r>
            <a:r>
              <a:rPr lang="en-US" dirty="0" smtClean="0"/>
              <a:t> tested, indicating superior reconstruction performance.</a:t>
            </a:r>
            <a:endParaRPr lang="tr-TR" dirty="0" smtClean="0"/>
          </a:p>
          <a:p>
            <a:endParaRPr lang="tr-TR" dirty="0"/>
          </a:p>
          <a:p>
            <a:r>
              <a:rPr lang="en-US" dirty="0" smtClean="0"/>
              <a:t>22. Visual Comparison: Dense AE vs CNN AE</a:t>
            </a:r>
            <a:endParaRPr lang="tr-TR" dirty="0" smtClean="0"/>
          </a:p>
          <a:p>
            <a:r>
              <a:rPr lang="en-US" dirty="0" smtClean="0"/>
              <a:t>This cell displays reconstructed images from both the deep dense </a:t>
            </a:r>
            <a:r>
              <a:rPr lang="en-US" dirty="0" err="1" smtClean="0"/>
              <a:t>autoencoder</a:t>
            </a:r>
            <a:r>
              <a:rPr lang="en-US" dirty="0" smtClean="0"/>
              <a:t> and the CNN </a:t>
            </a:r>
            <a:r>
              <a:rPr lang="en-US" dirty="0" err="1" smtClean="0"/>
              <a:t>autoencoder</a:t>
            </a:r>
            <a:r>
              <a:rPr lang="en-US" dirty="0" smtClean="0"/>
              <a:t>. The CNN </a:t>
            </a:r>
            <a:r>
              <a:rPr lang="en-US" dirty="0" err="1" smtClean="0"/>
              <a:t>autoencoder</a:t>
            </a:r>
            <a:r>
              <a:rPr lang="en-US" dirty="0" smtClean="0"/>
              <a:t> produces sharper and more detailed reconstructions, preserving edges and local patterns more effectively than dense architectures.</a:t>
            </a:r>
            <a:endParaRPr lang="en-US" dirty="0"/>
          </a:p>
        </p:txBody>
      </p:sp>
    </p:spTree>
    <p:extLst>
      <p:ext uri="{BB962C8B-B14F-4D97-AF65-F5344CB8AC3E}">
        <p14:creationId xmlns:p14="http://schemas.microsoft.com/office/powerpoint/2010/main" val="1385030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74453" y="845389"/>
            <a:ext cx="11248845" cy="2031325"/>
          </a:xfrm>
          <a:prstGeom prst="rect">
            <a:avLst/>
          </a:prstGeom>
        </p:spPr>
        <p:txBody>
          <a:bodyPr wrap="square">
            <a:spAutoFit/>
          </a:bodyPr>
          <a:lstStyle/>
          <a:p>
            <a:r>
              <a:rPr lang="en-US" b="1" dirty="0" smtClean="0"/>
              <a:t>Final Overall Conclusion</a:t>
            </a:r>
            <a:r>
              <a:rPr lang="tr-TR" dirty="0" smtClean="0"/>
              <a:t/>
            </a:r>
            <a:br>
              <a:rPr lang="tr-TR" dirty="0" smtClean="0"/>
            </a:br>
            <a:r>
              <a:rPr lang="tr-TR" dirty="0" smtClean="0"/>
              <a:t/>
            </a:r>
            <a:br>
              <a:rPr lang="tr-TR" dirty="0" smtClean="0"/>
            </a:br>
            <a:r>
              <a:rPr lang="en-US" dirty="0" smtClean="0"/>
              <a:t>Across all experiments, dense </a:t>
            </a:r>
            <a:r>
              <a:rPr lang="en-US" dirty="0" err="1" smtClean="0"/>
              <a:t>autoencoders</a:t>
            </a:r>
            <a:r>
              <a:rPr lang="en-US" dirty="0" smtClean="0"/>
              <a:t> are capable of learning compressed representations but struggle to preserve spatial details. Increasing depth does not always improve performance. Dropout consistently improves CNN generalization, especially on more complex datasets. </a:t>
            </a:r>
            <a:r>
              <a:rPr lang="en-US" dirty="0" err="1" smtClean="0"/>
              <a:t>Denoising</a:t>
            </a:r>
            <a:r>
              <a:rPr lang="en-US" dirty="0" smtClean="0"/>
              <a:t> </a:t>
            </a:r>
            <a:r>
              <a:rPr lang="en-US" dirty="0" err="1" smtClean="0"/>
              <a:t>autoencoders</a:t>
            </a:r>
            <a:r>
              <a:rPr lang="en-US" dirty="0" smtClean="0"/>
              <a:t> outperform sparse </a:t>
            </a:r>
            <a:r>
              <a:rPr lang="en-US" dirty="0" err="1" smtClean="0"/>
              <a:t>autoencoders</a:t>
            </a:r>
            <a:r>
              <a:rPr lang="en-US" dirty="0" smtClean="0"/>
              <a:t> in reconstruction quality. Finally, convolutional </a:t>
            </a:r>
            <a:r>
              <a:rPr lang="en-US" dirty="0" err="1" smtClean="0"/>
              <a:t>autoencoders</a:t>
            </a:r>
            <a:r>
              <a:rPr lang="en-US" dirty="0" smtClean="0"/>
              <a:t> clearly provide the best reconstruction performance, highlighting the importance of spatial inductive bias in computer vision tasks.</a:t>
            </a:r>
            <a:endParaRPr lang="en-US" dirty="0"/>
          </a:p>
        </p:txBody>
      </p:sp>
    </p:spTree>
    <p:extLst>
      <p:ext uri="{BB962C8B-B14F-4D97-AF65-F5344CB8AC3E}">
        <p14:creationId xmlns:p14="http://schemas.microsoft.com/office/powerpoint/2010/main" val="2550156172"/>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1534</Words>
  <Application>Microsoft Office PowerPoint</Application>
  <PresentationFormat>Geniş ekran</PresentationFormat>
  <Paragraphs>71</Paragraphs>
  <Slides>10</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10</vt:i4>
      </vt:variant>
    </vt:vector>
  </HeadingPairs>
  <TitlesOfParts>
    <vt:vector size="14" baseType="lpstr">
      <vt:lpstr>Arial</vt:lpstr>
      <vt:lpstr>Calibri</vt:lpstr>
      <vt:lpstr>Calibri Light</vt:lpstr>
      <vt:lpstr>Office Teması</vt:lpstr>
      <vt:lpstr>Report Overview</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 Overview</dc:title>
  <dc:creator>hp</dc:creator>
  <cp:lastModifiedBy>hp</cp:lastModifiedBy>
  <cp:revision>3</cp:revision>
  <dcterms:created xsi:type="dcterms:W3CDTF">2026-02-06T11:41:16Z</dcterms:created>
  <dcterms:modified xsi:type="dcterms:W3CDTF">2026-02-06T12:14:24Z</dcterms:modified>
</cp:coreProperties>
</file>